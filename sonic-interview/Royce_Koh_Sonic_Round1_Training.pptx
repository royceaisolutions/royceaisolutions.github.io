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02920"/>
            <a:ext cx="3703320" cy="384048"/>
          </a:xfrm>
          <a:prstGeom prst="roundRect">
            <a:avLst>
              <a:gd name="adj" fmla="val 6000"/>
            </a:avLst>
          </a:prstGeom>
          <a:solidFill>
            <a:srgbClr val="1E0E0C"/>
          </a:solidFill>
          <a:ln w="12700">
            <a:solidFill>
              <a:srgbClr val="5A2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7607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FF6B5B"/>
                </a:solidFill>
                <a:latin typeface="Helvetica Neue"/>
              </a:rPr>
              <a:t>SONIC · POWERSPORTS ·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400" b="1" i="0">
                <a:solidFill>
                  <a:srgbClr val="EEEEF0"/>
                </a:solidFill>
                <a:latin typeface="Helvetica Neue"/>
              </a:rPr>
              <a:t>Ten minutes that changes
the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8778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700" b="0" i="0">
                <a:solidFill>
                  <a:srgbClr val="EEEEF0"/>
                </a:solidFill>
                <a:latin typeface="Helvetica Neue"/>
              </a:rPr>
              <a:t>The first ten minutes of a Friday meeting, as the new initiative for this store. </a:t>
            </a:r>
            <a:r>
              <a:rPr sz="1700" b="0" i="0">
                <a:solidFill>
                  <a:srgbClr val="88889A"/>
                </a:solidFill>
                <a:latin typeface="Helvetica Neue"/>
              </a:rPr>
              <a:t>How we handle a walk-in and how we follow up after they leave.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EEEEF0"/>
                </a:solidFill>
                <a:latin typeface="Helvetica Neue"/>
              </a:rPr>
              <a:t>Royce Koh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C5C6E"/>
                </a:solidFill>
                <a:latin typeface="Helvetica Neue"/>
              </a:rPr>
              <a:t>Sales trainer candidate · Irvine, CA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327648"/>
            <a:ext cx="10634472" cy="9525"/>
          </a:xfrm>
          <a:prstGeom prst="rect">
            <a:avLst/>
          </a:prstGeom>
          <a:solidFill>
            <a:srgbClr val="2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The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97312" y="64190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REQUIREMENT 01 — LOG EVERY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EEEEF0"/>
                </a:solidFill>
                <a:latin typeface="Helvetica Neue"/>
              </a:rPr>
              <a:t>What an unlogged walk-in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 i="0">
                <a:solidFill>
                  <a:srgbClr val="88889A"/>
                </a:solidFill>
                <a:latin typeface="Helvetica Neue"/>
              </a:rPr>
              <a:t>Not close rate. The gap between the people who walked in and the names in the CRM.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1664208" cy="18288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2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734056"/>
            <a:ext cx="1261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EEEEF0"/>
                </a:solidFill>
                <a:latin typeface="Helvetica Neue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355848"/>
            <a:ext cx="1261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i="0">
                <a:solidFill>
                  <a:srgbClr val="5C5C6E"/>
                </a:solidFill>
                <a:latin typeface="Helvetica Neue"/>
              </a:rPr>
              <a:t>Walk-ins
per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2514600"/>
            <a:ext cx="1664208" cy="18288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2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734056"/>
            <a:ext cx="1261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EEEEF0"/>
                </a:solidFill>
                <a:latin typeface="Helvetica Neue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355848"/>
            <a:ext cx="1261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i="0">
                <a:solidFill>
                  <a:srgbClr val="5C5C6E"/>
                </a:solidFill>
                <a:latin typeface="Helvetica Neue"/>
              </a:rPr>
              <a:t>Never written
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514600"/>
            <a:ext cx="1664208" cy="18288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2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734056"/>
            <a:ext cx="1261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EEEEF0"/>
                </a:solidFill>
                <a:latin typeface="Helvetica Neue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355848"/>
            <a:ext cx="1261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i="0">
                <a:solidFill>
                  <a:srgbClr val="5C5C6E"/>
                </a:solidFill>
                <a:latin typeface="Helvetica Neue"/>
              </a:rPr>
              <a:t>Lost opportunities
per week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514600"/>
            <a:ext cx="1664208" cy="18288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2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734056"/>
            <a:ext cx="1261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EEEEF0"/>
                </a:solidFill>
                <a:latin typeface="Helvetica Neue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355848"/>
            <a:ext cx="1261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i="0">
                <a:solidFill>
                  <a:srgbClr val="5C5C6E"/>
                </a:solidFill>
                <a:latin typeface="Helvetica Neue"/>
              </a:rPr>
              <a:t>Close rate on
a worked lead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2514600"/>
            <a:ext cx="1664208" cy="18288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EA3D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734056"/>
            <a:ext cx="1261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FF6B5B"/>
                </a:solidFill>
                <a:latin typeface="Helvetica Neue"/>
              </a:rPr>
              <a:t>1 / 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3355848"/>
            <a:ext cx="1261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i="0">
                <a:solidFill>
                  <a:srgbClr val="5C5C6E"/>
                </a:solidFill>
                <a:latin typeface="Helvetica Neue"/>
              </a:rPr>
              <a:t>Deliveries that
never got a chance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14600"/>
            <a:ext cx="1664208" cy="18288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EA3D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0968" y="2734056"/>
            <a:ext cx="1261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FF6B5B"/>
                </a:solidFill>
                <a:latin typeface="Helvetica Neue"/>
              </a:rPr>
              <a:t>4 /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0968" y="3355848"/>
            <a:ext cx="1261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i="0">
                <a:solidFill>
                  <a:srgbClr val="5C5C6E"/>
                </a:solidFill>
                <a:latin typeface="Helvetica Neue"/>
              </a:rPr>
              <a:t>Same loss,
every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88889A"/>
                </a:solidFill>
                <a:latin typeface="Helvetica Neue"/>
              </a:rPr>
              <a:t>A lead that was never written down cannot be called, counted, or coached. Every other store number is measured against a denominator that is short by whatever walked out unrecorded. Illustrative floor assumptions — swap in this store's traffic count and the same arithmetic returns this store's number.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327648"/>
            <a:ext cx="10634472" cy="9525"/>
          </a:xfrm>
          <a:prstGeom prst="rect">
            <a:avLst/>
          </a:prstGeom>
          <a:solidFill>
            <a:srgbClr val="2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The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7312" y="64190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REQUIREMENT 02 — KEY STEPS IN THE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EEEEF0"/>
                </a:solidFill>
                <a:latin typeface="Helvetica Neue"/>
              </a:rPr>
              <a:t>Four steps, in this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 i="0">
                <a:solidFill>
                  <a:srgbClr val="88889A"/>
                </a:solidFill>
                <a:latin typeface="Helvetica Neue"/>
              </a:rPr>
              <a:t>One process. Taught the same way at every store, audited the same way by the GM.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651760"/>
            <a:ext cx="566928" cy="384048"/>
          </a:xfrm>
          <a:prstGeom prst="roundRect">
            <a:avLst>
              <a:gd name="adj" fmla="val 6000"/>
            </a:avLst>
          </a:prstGeom>
          <a:solidFill>
            <a:srgbClr val="1E0E0C"/>
          </a:solidFill>
          <a:ln w="12700">
            <a:solidFill>
              <a:srgbClr val="5A2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1576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20848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EEEEF0"/>
                </a:solidFill>
                <a:latin typeface="Helvetica Neue"/>
              </a:rPr>
              <a:t>Greet and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13632"/>
            <a:ext cx="20848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88889A"/>
                </a:solidFill>
                <a:latin typeface="Helvetica Neue"/>
              </a:rPr>
              <a:t>Inside 30 seconds. Name and mobile written in front of the guest.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237744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9896" y="2651760"/>
            <a:ext cx="566928" cy="384048"/>
          </a:xfrm>
          <a:prstGeom prst="roundRect">
            <a:avLst>
              <a:gd name="adj" fmla="val 6000"/>
            </a:avLst>
          </a:prstGeom>
          <a:solidFill>
            <a:srgbClr val="1E0E0C"/>
          </a:solidFill>
          <a:ln w="12700">
            <a:solidFill>
              <a:srgbClr val="5A2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271576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3246120"/>
            <a:ext cx="20848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EEEEF0"/>
                </a:solidFill>
                <a:latin typeface="Helvetica Neue"/>
              </a:rP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913632"/>
            <a:ext cx="20848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88889A"/>
                </a:solidFill>
                <a:latin typeface="Helvetica Neue"/>
              </a:rPr>
              <a:t>Who it is for, what they drive now, what must be true on delivery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237744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2651760"/>
            <a:ext cx="566928" cy="384048"/>
          </a:xfrm>
          <a:prstGeom prst="roundRect">
            <a:avLst>
              <a:gd name="adj" fmla="val 6000"/>
            </a:avLst>
          </a:prstGeom>
          <a:solidFill>
            <a:srgbClr val="1E0E0C"/>
          </a:solidFill>
          <a:ln w="12700">
            <a:solidFill>
              <a:srgbClr val="5A2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71576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246120"/>
            <a:ext cx="20848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EEEEF0"/>
                </a:solidFill>
                <a:latin typeface="Helvetica Neue"/>
              </a:rPr>
              <a:t>Present one vehicle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913632"/>
            <a:ext cx="20848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88889A"/>
                </a:solidFill>
                <a:latin typeface="Helvetica Neue"/>
              </a:rPr>
              <a:t>Feature, benefit, proof. Notes written at the vehicle, not after.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2377440"/>
            <a:ext cx="2542032" cy="274320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08008" y="2651760"/>
            <a:ext cx="566928" cy="384048"/>
          </a:xfrm>
          <a:prstGeom prst="roundRect">
            <a:avLst>
              <a:gd name="adj" fmla="val 6000"/>
            </a:avLst>
          </a:prstGeom>
          <a:solidFill>
            <a:srgbClr val="1E0E0C"/>
          </a:solidFill>
          <a:ln w="12700">
            <a:solidFill>
              <a:srgbClr val="5A2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271576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246120"/>
            <a:ext cx="208483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 i="0">
                <a:solidFill>
                  <a:srgbClr val="EEEEF0"/>
                </a:solidFill>
                <a:latin typeface="Helvetica Neue"/>
              </a:rPr>
              <a:t>Desk and next 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913632"/>
            <a:ext cx="20848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88889A"/>
                </a:solidFill>
                <a:latin typeface="Helvetica Neue"/>
              </a:rPr>
              <a:t>The number before the trade. Day, time, owner before the door.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327648"/>
            <a:ext cx="10634472" cy="9525"/>
          </a:xfrm>
          <a:prstGeom prst="rect">
            <a:avLst/>
          </a:prstGeom>
          <a:solidFill>
            <a:srgbClr val="2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The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97312" y="64190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EEEEF0"/>
                </a:solidFill>
                <a:latin typeface="Helvetica Neue"/>
              </a:rPr>
              <a:t>Greet and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 i="0">
                <a:solidFill>
                  <a:srgbClr val="88889A"/>
                </a:solidFill>
                <a:latin typeface="Helvetica Neue"/>
              </a:rPr>
              <a:t>The moment it is written, the store owns the follow-up clock — not the consultant's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600" b="1" i="0">
                <a:solidFill>
                  <a:srgbClr val="FF6B5B"/>
                </a:solidFill>
                <a:latin typeface="Helvetica Neue"/>
              </a:rPr>
              <a:t>30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88889A"/>
                </a:solidFill>
                <a:latin typeface="Helvetica Neue"/>
              </a:rPr>
              <a:t>To the greeting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600" b="1" i="0">
                <a:solidFill>
                  <a:srgbClr val="FF6B5B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383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88889A"/>
                </a:solidFill>
                <a:latin typeface="Helvetica Neue"/>
              </a:rPr>
              <a:t>Things to get: name,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2600" b="1" i="0">
                <a:solidFill>
                  <a:srgbClr val="FF6B5B"/>
                </a:solidFill>
                <a:latin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3434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88889A"/>
                </a:solidFill>
                <a:latin typeface="Helvetica Neue"/>
              </a:rPr>
              <a:t>Place: written in front of the guest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40280"/>
            <a:ext cx="4983480" cy="306324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FF6B5B"/>
                </a:solidFill>
                <a:latin typeface="Helvetica Neue"/>
              </a:rPr>
              <a:t>SAY IT LIKE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1" i="0">
                <a:solidFill>
                  <a:srgbClr val="EEEEF0"/>
                </a:solidFill>
                <a:latin typeface="Helvetica Neue"/>
              </a:rPr>
              <a:t>Welcome in — I'm Royce. </a:t>
            </a:r>
            <a:r>
              <a:rPr sz="1500" b="0" i="0">
                <a:solidFill>
                  <a:srgbClr val="88889A"/>
                </a:solidFill>
                <a:latin typeface="Helvetica Neue"/>
              </a:rPr>
              <a:t>Before we walk the lot, can I get your name and the best number to reach you? I write every guest down so I can follow up properly — I don't want you to have to remember 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27648"/>
            <a:ext cx="10634472" cy="9525"/>
          </a:xfrm>
          <a:prstGeom prst="rect">
            <a:avLst/>
          </a:prstGeom>
          <a:solidFill>
            <a:srgbClr val="2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Step 1 — greet and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7312" y="64190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STEPS 2, 3 AND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EEEEF0"/>
                </a:solidFill>
                <a:latin typeface="Helvetica Neue"/>
              </a:rPr>
              <a:t>The 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 i="0">
                <a:solidFill>
                  <a:srgbClr val="88889A"/>
                </a:solidFill>
                <a:latin typeface="Helvetica Neue"/>
              </a:rPr>
              <a:t>Three questions, one vehicle presented well, and a next contact committed before they reach the door.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3310128" cy="274320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70048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7614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Who is the vehicle for?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What are you driving now?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What must be true on delivery day?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23160"/>
            <a:ext cx="3310128" cy="274320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670048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154680"/>
            <a:ext cx="27614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One vehicle, presented well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Feature, benefit, proof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Notes written at the vehicle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423160"/>
            <a:ext cx="3310128" cy="274320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670048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THE DESK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154680"/>
            <a:ext cx="27614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The number before the trade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Day, time, and owner agreed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1" i="0">
                <a:solidFill>
                  <a:srgbClr val="FF6B5B"/>
                </a:solidFill>
                <a:latin typeface="Helvetica Neue"/>
              </a:rPr>
              <a:t>·  </a:t>
            </a:r>
            <a:r>
              <a:rPr sz="1300" b="0" i="0">
                <a:solidFill>
                  <a:srgbClr val="88889A"/>
                </a:solidFill>
                <a:latin typeface="Helvetica Neue"/>
              </a:rPr>
              <a:t>Next contact before the door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27648"/>
            <a:ext cx="10634472" cy="9525"/>
          </a:xfrm>
          <a:prstGeom prst="rect">
            <a:avLst/>
          </a:prstGeom>
          <a:solidFill>
            <a:srgbClr val="2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Steps 2-4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7312" y="64190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REQUIREMENT 03 — FOLLOW-UP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EEEEF0"/>
                </a:solidFill>
                <a:latin typeface="Helvetica Neue"/>
              </a:rPr>
              <a:t>The follow-up clocks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 i="0">
                <a:solidFill>
                  <a:srgbClr val="88889A"/>
                </a:solidFill>
                <a:latin typeface="Helvetica Neue"/>
              </a:rPr>
              <a:t>One committed contact beats ten remembered intentions.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6B5B"/>
                </a:solidFill>
                <a:latin typeface="Helvetica Neue"/>
              </a:rPr>
              <a:t>Same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88889A"/>
                </a:solidFill>
                <a:latin typeface="Helvetica Neue"/>
              </a:rPr>
              <a:t>Note in the CRM and a call while the visit is fresh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42316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26517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6B5B"/>
                </a:solidFill>
                <a:latin typeface="Helvetica Neue"/>
              </a:rPr>
              <a:t>24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320040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88889A"/>
                </a:solidFill>
                <a:latin typeface="Helvetica Neue"/>
              </a:rPr>
              <a:t>A personal call or text about their car — never a template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42316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6517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6B5B"/>
                </a:solidFill>
                <a:latin typeface="Helvetica Neue"/>
              </a:rPr>
              <a:t>72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320040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88889A"/>
                </a:solidFill>
                <a:latin typeface="Helvetica Neue"/>
              </a:rPr>
              <a:t>A second touch with something useful: vehicle, payment, answer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1976" y="2423160"/>
            <a:ext cx="2542032" cy="205740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0576" y="26517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6B5B"/>
                </a:solidFill>
                <a:latin typeface="Helvetica Neue"/>
              </a:rPr>
              <a:t>14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3200400"/>
            <a:ext cx="2103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88889A"/>
                </a:solidFill>
                <a:latin typeface="Helvetica Neue"/>
              </a:rPr>
              <a:t>Five touches, then a decision from the desk instead of silence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006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 i="0">
                <a:solidFill>
                  <a:srgbClr val="88889A"/>
                </a:solidFill>
                <a:latin typeface="Helvetica Neue"/>
              </a:rPr>
              <a:t>Then the desk decides: re-engage, reassign, or close the file. Silence is not a follow-up plan — it is the default that loses the deal.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27648"/>
            <a:ext cx="10634472" cy="9525"/>
          </a:xfrm>
          <a:prstGeom prst="rect">
            <a:avLst/>
          </a:prstGeom>
          <a:solidFill>
            <a:srgbClr val="2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The clocks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97312" y="64190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DO, THEN DRILL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EEEEF0"/>
                </a:solidFill>
                <a:latin typeface="Helvetica Neue"/>
              </a:rPr>
              <a:t>The 30-second drill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 i="0">
                <a:solidFill>
                  <a:srgbClr val="88889A"/>
                </a:solidFill>
                <a:latin typeface="Helvetica Neue"/>
              </a:rPr>
              <a:t>Nobody is asked to be a hero. Everybody says the words out loud, once, before they walk the floor.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10634472" cy="1965960"/>
          </a:xfrm>
          <a:prstGeom prst="roundRect">
            <a:avLst>
              <a:gd name="adj" fmla="val 6000"/>
            </a:avLst>
          </a:prstGeom>
          <a:solidFill>
            <a:srgbClr val="0E0E12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TURN TO A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900" b="0" i="0">
                <a:solidFill>
                  <a:srgbClr val="EEEEF0"/>
                </a:solidFill>
                <a:latin typeface="Helvetica Neue"/>
              </a:rPr>
              <a:t>Greet them, get their name and mobile number out loud, and write it down in front of them — in 30 seconds. Then swap.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88889A"/>
                </a:solidFill>
                <a:latin typeface="Helvetica Neue"/>
              </a:rPr>
              <a:t>Every person leaves having done it once. That is what changes the Monday.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327648"/>
            <a:ext cx="10634472" cy="9525"/>
          </a:xfrm>
          <a:prstGeom prst="rect">
            <a:avLst/>
          </a:prstGeom>
          <a:solidFill>
            <a:srgbClr val="2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The drill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97312" y="64190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EEEEF0"/>
                </a:solidFill>
                <a:latin typeface="Helvetica Neue"/>
              </a:rPr>
              <a:t>One ask. One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0" i="0">
                <a:solidFill>
                  <a:srgbClr val="88889A"/>
                </a:solidFill>
                <a:latin typeface="Helvetica Neue"/>
              </a:rPr>
              <a:t>What the GM can walk the floor and see by the end of the first week.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1E0E0C"/>
          </a:solidFill>
          <a:ln w="12700">
            <a:solidFill>
              <a:srgbClr val="EA3D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 i="0">
                <a:solidFill>
                  <a:srgbClr val="EEEEF0"/>
                </a:solidFill>
                <a:latin typeface="Helvetica Neue"/>
              </a:rPr>
              <a:t>Every walk-in is logged before the guest reaches the door.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2331720"/>
            <a:ext cx="5120640" cy="2377440"/>
          </a:xfrm>
          <a:prstGeom prst="roundRect">
            <a:avLst>
              <a:gd name="adj" fmla="val 6000"/>
            </a:avLst>
          </a:prstGeom>
          <a:solidFill>
            <a:srgbClr val="15151B"/>
          </a:solidFill>
          <a:ln w="12700">
            <a:solidFill>
              <a:srgbClr val="242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6060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6B5B"/>
                </a:solidFill>
                <a:latin typeface="Helvetica Neue"/>
              </a:rPr>
              <a:t>THE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301752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 i="0">
                <a:solidFill>
                  <a:srgbClr val="EEEEF0"/>
                </a:solidFill>
                <a:latin typeface="Helvetica Neue"/>
              </a:rPr>
              <a:t>Door count against logged opportunities — walked daily, reviewed Friday.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 i="0">
                <a:solidFill>
                  <a:srgbClr val="88889A"/>
                </a:solidFill>
                <a:latin typeface="Helvetica Neue"/>
              </a:rPr>
              <a:t>That is the whole system: four steps on the floor, four follow-up clocks, and one number nobody has to interpret. Thank you — questions?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327648"/>
            <a:ext cx="10634472" cy="9525"/>
          </a:xfrm>
          <a:prstGeom prst="rect">
            <a:avLst/>
          </a:prstGeom>
          <a:solidFill>
            <a:srgbClr val="22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7312" y="64190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5C5C6E"/>
                </a:solidFill>
                <a:latin typeface="Helvetica Neue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